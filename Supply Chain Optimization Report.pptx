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69" r:id="rId3"/>
    <p:sldId id="262" r:id="rId4"/>
    <p:sldId id="270" r:id="rId5"/>
    <p:sldId id="266" r:id="rId6"/>
    <p:sldId id="271" r:id="rId7"/>
    <p:sldId id="272" r:id="rId8"/>
    <p:sldId id="267" r:id="rId9"/>
    <p:sldId id="273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2594E9B-8844-47C6-916F-04438FAA6576}">
          <p14:sldIdLst>
            <p14:sldId id="261"/>
            <p14:sldId id="269"/>
            <p14:sldId id="262"/>
            <p14:sldId id="270"/>
            <p14:sldId id="266"/>
            <p14:sldId id="271"/>
            <p14:sldId id="272"/>
            <p14:sldId id="267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4996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472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7452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rrulous-cake-5cd.notion.site/Supply-Chain-Analysis-Project-Plan-eaf8285b7a0c4c9ab311f08658e064c3" TargetMode="External"/><Relationship Id="rId2" Type="http://schemas.openxmlformats.org/officeDocument/2006/relationships/hyperlink" Target="https://github.com/Selim9-9/Supply-Chain-Data-Analysi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36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DATACO SUPPLY CHAIN ANALYTICS</a:t>
            </a:r>
            <a:endParaRPr sz="3600" b="1"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SQL SERVER DATA WAREHOUSING AND POWER BI</a:t>
            </a:r>
            <a:endParaRPr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11/30/2025</a:t>
            </a:r>
            <a:endParaRPr dirty="0"/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2150166-55C0-F834-5D5E-7CD41C8E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1D8D12-DC42-A012-A0BD-D22110E01537}"/>
              </a:ext>
            </a:extLst>
          </p:cNvPr>
          <p:cNvSpPr txBox="1"/>
          <p:nvPr/>
        </p:nvSpPr>
        <p:spPr>
          <a:xfrm>
            <a:off x="668070" y="5245553"/>
            <a:ext cx="308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Saleem Khaled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576AE-8044-65E2-7FF6-334F19053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101" y="660903"/>
            <a:ext cx="10828699" cy="5516060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2400" b="1" dirty="0"/>
              <a:t>Brief description of the problem being solved</a:t>
            </a:r>
          </a:p>
          <a:p>
            <a:r>
              <a:rPr lang="en-US" sz="1800" dirty="0"/>
              <a:t>     The project addresses the need to analyze and improve </a:t>
            </a:r>
            <a:r>
              <a:rPr lang="en-US" sz="1800" dirty="0" err="1"/>
              <a:t>DataCo</a:t>
            </a:r>
            <a:r>
              <a:rPr lang="en-US" sz="1800" dirty="0"/>
              <a:t> </a:t>
            </a:r>
            <a:r>
              <a:rPr lang="en-US" sz="1800" dirty="0" err="1"/>
              <a:t>Global’s</a:t>
            </a:r>
            <a:r>
              <a:rPr lang="en-US" sz="1800" dirty="0"/>
              <a:t> supply chain performance.</a:t>
            </a:r>
          </a:p>
          <a:p>
            <a:r>
              <a:rPr lang="en-US" sz="1800" dirty="0"/>
              <a:t>    The objective is to structure transactional data (180k+ orders from 2015–2018) to provide meaningful insights into delivery status, costs, and profit metrics.</a:t>
            </a:r>
          </a:p>
          <a:p>
            <a:pPr marL="114300" indent="0" algn="ctr">
              <a:buNone/>
            </a:pPr>
            <a:r>
              <a:rPr lang="en-US" sz="2400" b="1" dirty="0"/>
              <a:t>Overview of the proposed solution </a:t>
            </a:r>
          </a:p>
          <a:p>
            <a:r>
              <a:rPr lang="en-US" sz="1800" dirty="0"/>
              <a:t>    Building a complete SQL Server Data Warehouse using the Medallion Architecture (Bronze → Silver → Gold layers).</a:t>
            </a:r>
          </a:p>
          <a:p>
            <a:r>
              <a:rPr lang="en-US" sz="1800" dirty="0"/>
              <a:t>    Developing interactive Power BI dashboards to consume the Gold Layer data and support strategic decisions.</a:t>
            </a:r>
          </a:p>
          <a:p>
            <a:pPr marL="114300" indent="0" algn="ctr">
              <a:buNone/>
            </a:pPr>
            <a:r>
              <a:rPr lang="en-US" sz="2400" b="1" dirty="0"/>
              <a:t>Unique value proposition</a:t>
            </a:r>
          </a:p>
          <a:p>
            <a:r>
              <a:rPr lang="en-US" sz="1800" dirty="0"/>
              <a:t>     The outcome is a fully modeled warehouse and interactive BI dashboards designed to enable Executive BI Reporting and optimize operations.</a:t>
            </a:r>
          </a:p>
          <a:p>
            <a:r>
              <a:rPr lang="en-US" sz="1800" dirty="0"/>
              <a:t>     The structured approach ensures data reliability, consistency, and traceability across three layers (Bronze for raw integrity, Silver for cleaning/standardization, Gold for business readiness)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65CA-1590-E409-A25F-31C017FBA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/>
              <a:t>3</a:t>
            </a:fld>
            <a:endParaRPr sz="1800"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1601340-C566-EBE9-855E-4B345537A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EF4498-C381-34E0-CE72-79B0D3E08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59255"/>
            <a:ext cx="7513948" cy="4318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202B78-EBE8-4D95-7FD7-962F88A0BD2E}"/>
              </a:ext>
            </a:extLst>
          </p:cNvPr>
          <p:cNvSpPr txBox="1"/>
          <p:nvPr/>
        </p:nvSpPr>
        <p:spPr>
          <a:xfrm>
            <a:off x="738612" y="724277"/>
            <a:ext cx="1016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0" dirty="0">
                <a:solidFill>
                  <a:srgbClr val="303030"/>
                </a:solidFill>
                <a:effectLst/>
                <a:latin typeface="Google Sans Text"/>
              </a:rPr>
              <a:t>Visual representation of key user interfaces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7D8AF3-7A44-F970-C863-D38418704022}"/>
              </a:ext>
            </a:extLst>
          </p:cNvPr>
          <p:cNvSpPr txBox="1"/>
          <p:nvPr/>
        </p:nvSpPr>
        <p:spPr>
          <a:xfrm>
            <a:off x="335152" y="1314509"/>
            <a:ext cx="434566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journey moves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source files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82A2C"/>
                </a:solidFill>
                <a:effectLst/>
                <a:latin typeface="+mj-lt"/>
              </a:rPr>
              <a:t>DataCoSupplyChainDataset.csv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Bronze Layer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(raw data) 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Silver Layer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(cleaned data), and finally into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Gold Layer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(star schema views) optimized for Power BI consumption.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usability and user experience: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The Power BI dashboards should emphasize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interactions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drill-down analytics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region, product, and customers.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The Gold Layer ensures the data model is simple and fast for BI reporting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353085"/>
            <a:ext cx="10515600" cy="582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/>
              <a:t>Define primary user personas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Strategic Decision Makers / Executives: Users who rely on the reports for metric validation and the business insights narrative.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Supply Chain Managers: Focused on Delivery Performance and optimizing Shipping &amp; Operational Costs.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Product/Regional Managers: Focused on Product, Regional, and Customer Insights.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16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2400" b="1" dirty="0"/>
              <a:t> Key features that address user needs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KPI Dictionary with DAX: Provides defined metrics such as On-Time Delivery Rate, Average Shipping Cost per Order, and Order Fulfillment Cycle Time.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Cost Fact Tables: Enable analysis and optimization of shipping and operational costs.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Cleaned Dimensions: Dimension tables for Customer, Region, Product, Department, and Date ensure consistent context for analysis.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16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1600" dirty="0"/>
              <a:t> </a:t>
            </a:r>
            <a:r>
              <a:rPr lang="en-US" sz="2400" b="1" dirty="0"/>
              <a:t>how the features solve the problems of each end-user: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The Power BI dashboards provide dynamic, executive-level reporting, allowing managers to drill down into specific areas (like late deliveries by country/region) to identify issues and formulate strategy.</a:t>
            </a:r>
            <a:endParaRPr sz="1800"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26748DA-8DE8-EFD5-3B01-0D1E56FA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1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353085"/>
            <a:ext cx="10515600" cy="582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/>
              <a:t>Description of the database architecture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The project utilizes the Medallion Architecture (Bronze, Silver, Gold) implemented fully within SQL Server.</a:t>
            </a:r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1800" dirty="0"/>
              <a:t>    ◦ Data is sourced from CSV files (e.g., DataCoSupplyChainDataset.csv).</a:t>
            </a:r>
          </a:p>
          <a:p>
            <a:pPr marL="228600" indent="-50800">
              <a:spcBef>
                <a:spcPts val="0"/>
              </a:spcBef>
              <a:buSzPts val="2800"/>
              <a:buNone/>
            </a:pPr>
            <a:endParaRPr lang="en-US" sz="16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2400" b="1" dirty="0"/>
              <a:t>Key entities and relationships between data points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The Gold Layer uses a Star Schema data model.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Fact Tables: Include data for Orders, Shipping, Delivery, and Financials.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Dimension Tables (dim_): Include entities like Customer, Region, Product, Department, and Date.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Surrogate Keys (e.g., </a:t>
            </a:r>
            <a:r>
              <a:rPr lang="en-US" sz="1800" dirty="0" err="1"/>
              <a:t>customer_key</a:t>
            </a:r>
            <a:r>
              <a:rPr lang="en-US" sz="1800" dirty="0"/>
              <a:t>) are used for stable references in dimension tables.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16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2400" b="1" dirty="0"/>
              <a:t>Data flow (how data is collected, stored, and accessed)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Data is collected via CSV → SQL ingestion into the Bronze Layer (Raw Data, no transformations).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The Silver Layer handles Data Cleansing, Deduplication, Standardization, and Normalization.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800" dirty="0"/>
              <a:t>    ◦ The Gold Layer applies Data Integration, Aggregations, and Business Logic, outputting Business Ready Views optimized for Power BI reporting.</a:t>
            </a:r>
            <a:endParaRPr sz="1800"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26748DA-8DE8-EFD5-3B01-0D1E56FA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353085"/>
            <a:ext cx="10515600" cy="582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400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b="1" dirty="0"/>
              <a:t>the main programming languages used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600" dirty="0"/>
              <a:t>    ◦ </a:t>
            </a:r>
            <a:r>
              <a:rPr lang="en-US" sz="2000" dirty="0"/>
              <a:t>SQL/TSQL: Used for data transformations, analysis, and is documented as 17.6% of the repository languages.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</a:t>
            </a:r>
            <a:r>
              <a:rPr lang="en-US" sz="2000" dirty="0" err="1"/>
              <a:t>Jupyter</a:t>
            </a:r>
            <a:r>
              <a:rPr lang="en-US" sz="2000" dirty="0"/>
              <a:t> Notebook: Documented as 82.4% of the repository languages.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2400" b="1" dirty="0"/>
              <a:t>frameworks/tools used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SQL Server: The core platform hosting the Bronze, Silver, and Gold data layers.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Power BI: Used for data modeling, creating DAX measures, and developing interactive dashboards.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sz="2400" b="1" dirty="0"/>
              <a:t>supporting technologies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1600" dirty="0"/>
              <a:t>    ◦ </a:t>
            </a:r>
            <a:r>
              <a:rPr lang="en-US" sz="2000" dirty="0"/>
              <a:t>DAX: Used specifically by Mohamed Mostafa to convert delivery KPIs into actionable metrics.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The data warehouse uses Stored Procedures (following conventions like </a:t>
            </a:r>
            <a:r>
              <a:rPr lang="en-US" sz="2000" dirty="0" err="1"/>
              <a:t>load_bronze</a:t>
            </a:r>
            <a:r>
              <a:rPr lang="en-US" sz="2000" dirty="0"/>
              <a:t>, </a:t>
            </a:r>
            <a:r>
              <a:rPr lang="en-US" sz="2000" dirty="0" err="1"/>
              <a:t>load_silver</a:t>
            </a:r>
            <a:r>
              <a:rPr lang="en-US" sz="2000" dirty="0"/>
              <a:t>) to encapsulate ETL logic.</a:t>
            </a:r>
            <a:endParaRPr sz="2000"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26748DA-8DE8-EFD5-3B01-0D1E56FA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5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353085"/>
            <a:ext cx="10515600" cy="5823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List of reports and documentation to be provided: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The SQL Server Data Warehouse (Bronze → Silver → Gold).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Interactive dashboards in Power BI.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Power BI data model (.</a:t>
            </a:r>
            <a:r>
              <a:rPr lang="en-US" sz="2000" dirty="0" err="1"/>
              <a:t>pbix</a:t>
            </a:r>
            <a:r>
              <a:rPr lang="en-US" sz="2000" dirty="0"/>
              <a:t>).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Complete ETL documentation (including Bronze / Silver / Gold ETL Logic and SQL Transformation </a:t>
            </a:r>
            <a:r>
              <a:rPr lang="en-US" sz="2000"/>
              <a:t>Guide).  </a:t>
            </a:r>
            <a:endParaRPr lang="en-US" sz="2000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Executive insights &amp; recommendations.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A KPI dictionary with DAX definitions.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b="1" dirty="0"/>
              <a:t>Timeline for deliverables: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The project adhered to an 8-Week Project Plan.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Key internal deadlines included Week 4 for Silver/Gold Layer completion and Week 6 for Power BI data modeling and core DAX KPI setup.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/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b="1" dirty="0"/>
              <a:t>Other final products: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 dirty="0"/>
              <a:t>    ◦ The fully documented Source Code Repository on GitHub (Selim9-9/Supply-Chain-Data-Analysis).</a:t>
            </a:r>
            <a:endParaRPr sz="2000"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26748DA-8DE8-EFD5-3B01-0D1E56FA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1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5D20B10-1317-F29F-FDDB-2A3283207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73F1EB-B143-C5CA-5810-1DE74C541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99841"/>
              </p:ext>
            </p:extLst>
          </p:nvPr>
        </p:nvGraphicFramePr>
        <p:xfrm>
          <a:off x="4872378" y="981446"/>
          <a:ext cx="7183820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607">
                  <a:extLst>
                    <a:ext uri="{9D8B030D-6E8A-4147-A177-3AD203B41FA5}">
                      <a16:colId xmlns:a16="http://schemas.microsoft.com/office/drawing/2014/main" val="2683257317"/>
                    </a:ext>
                  </a:extLst>
                </a:gridCol>
                <a:gridCol w="2006249">
                  <a:extLst>
                    <a:ext uri="{9D8B030D-6E8A-4147-A177-3AD203B41FA5}">
                      <a16:colId xmlns:a16="http://schemas.microsoft.com/office/drawing/2014/main" val="912393240"/>
                    </a:ext>
                  </a:extLst>
                </a:gridCol>
                <a:gridCol w="2782964">
                  <a:extLst>
                    <a:ext uri="{9D8B030D-6E8A-4147-A177-3AD203B41FA5}">
                      <a16:colId xmlns:a16="http://schemas.microsoft.com/office/drawing/2014/main" val="1376457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Team 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Key Responsibilities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93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Saleem Khaled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Project Lead, SQL Server Data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Bronze layer ingestion &amp; initialization, raw layer setup, data quality checks, ensuring raw data integrity.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82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Abdelrahman Mohamed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Silver layer transformations, data cleaning, standardization, deduplication, application of business rules.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389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Mohamed Mostafa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Warehouse/BI Modeler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Gold layer modeling (star schema), KPI development, DAX measures, business insights narrative, metric validation.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30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Mohamed Sameer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Power BI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Power BI dashboard design, visual interactions, performance optimization, final dashboard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7084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C434AFE-9972-4A77-E583-758F6293F80C}"/>
              </a:ext>
            </a:extLst>
          </p:cNvPr>
          <p:cNvSpPr txBox="1"/>
          <p:nvPr/>
        </p:nvSpPr>
        <p:spPr>
          <a:xfrm>
            <a:off x="470780" y="1276539"/>
            <a:ext cx="42730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methods: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The team used a phased approach corresponding to the Data Warehouse layers (Bronze, Silver, Gold), implying clear handoffs of deliverables.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◦ Communication and issue tracking are handled via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Issues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922A0C-D8B8-7345-D5A8-7F42C27FA1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3C65D-F6DE-600C-459E-83DCFD7A26D9}"/>
              </a:ext>
            </a:extLst>
          </p:cNvPr>
          <p:cNvSpPr txBox="1"/>
          <p:nvPr/>
        </p:nvSpPr>
        <p:spPr>
          <a:xfrm>
            <a:off x="778598" y="1131683"/>
            <a:ext cx="103481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Thank You</a:t>
            </a:r>
          </a:p>
          <a:p>
            <a:r>
              <a:rPr lang="en-US" sz="2800" b="1" dirty="0"/>
              <a:t>Contact information for follow-up:</a:t>
            </a:r>
          </a:p>
          <a:p>
            <a:r>
              <a:rPr lang="en-US" sz="2000" dirty="0"/>
              <a:t>    ◦ Contact the Project Lead, Saleem Khaled, for warehouse inquiries.</a:t>
            </a:r>
          </a:p>
          <a:p>
            <a:r>
              <a:rPr lang="en-US" sz="2000" dirty="0"/>
              <a:t>    ◦ GitHub Repository: </a:t>
            </a:r>
            <a:r>
              <a:rPr lang="en-US" sz="2000" dirty="0">
                <a:hlinkClick r:id="rId2"/>
              </a:rPr>
              <a:t>https://github.com/Selim9-9/Supply-Chain-Data-Analysis</a:t>
            </a:r>
            <a:r>
              <a:rPr lang="en-US" sz="2000" dirty="0"/>
              <a:t>.</a:t>
            </a:r>
          </a:p>
          <a:p>
            <a:r>
              <a:rPr lang="en-US" sz="2000" dirty="0"/>
              <a:t>    ◦ Project Plan on Notion: </a:t>
            </a:r>
            <a:r>
              <a:rPr lang="en-US" sz="2000" dirty="0">
                <a:hlinkClick r:id="rId3"/>
              </a:rPr>
              <a:t>https://garrulous-cake-5cd.notion.site/Supply-Chain-Analysis-Project-Plan-eaf8285b7a0c4c9ab311f08658e064c3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2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1117</Words>
  <Application>Microsoft Office PowerPoint</Application>
  <PresentationFormat>Widescreen</PresentationFormat>
  <Paragraphs>109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Google Sans Text</vt:lpstr>
      <vt:lpstr>Office Theme</vt:lpstr>
      <vt:lpstr>DATACO SUPPLY CHAIN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Mohammad Othman</cp:lastModifiedBy>
  <cp:revision>4</cp:revision>
  <dcterms:created xsi:type="dcterms:W3CDTF">2024-03-14T10:03:54Z</dcterms:created>
  <dcterms:modified xsi:type="dcterms:W3CDTF">2025-11-30T21:15:34Z</dcterms:modified>
</cp:coreProperties>
</file>